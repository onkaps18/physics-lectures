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in Instructor Name, Date. The logo placeholder is at top-left.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Toroid. Explain the concept of bending a solenoid. Emphasize B=0 outside. Compare with infinite solenoid.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Torque on current loop. Walk through forces on each arm. Emphasize the couple concept. Show θ=90° is max torque (parallel coil) and θ=0° is stable equilibrium.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Practice Slide 1. Paste question image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Practice Slide 2. Paste question image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Practice Slide 3. Paste question image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Practice Slide 4. Paste question image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8A: Introduction to Earth's Magnetism. Origin, dipole model, geographic vs magnetic axis, 11.5° tilt.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9B: Magnetic and geographic meridians. Emphasize the difference and importance in declination and dip.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10C: Three elements of Earth's magnetism. Declination, Dip, Horizontal 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11D: Angle of Declination. Explain how compass doesn't point to true north. London example 10°W.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12E: Angle of dip. Measure using Dip Circle instrument. Emphasize 0° at equator, 90° at poles. Delhi = 42°.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13F: Components. Walk through vector decomposition. BH measured by vibration/deflection magnetometer. Delhi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14G: Complete formula sheet. Students should revise this before exams.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15H: Concept checkpoints. Discuss each one in class before revealing hints.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457200"/>
            <a:ext cx="22860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1440" y="731520"/>
            <a:ext cx="18288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1440" y="1005840"/>
            <a:ext cx="13716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0" y="274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1C3A6E"/>
                </a:solidFill>
              </a:rPr>
              <a:t>∮ B · dl = μ₀I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0" y="731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1C3A6E"/>
                </a:solidFill>
              </a:rPr>
              <a:t>τ = M × 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C3A6E"/>
                </a:solidFill>
              </a:rPr>
              <a:t>B_H = B_I cos 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28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</a:rPr>
              <a:t>INSTITUTE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</a:rPr>
              <a:t>LOGO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0"/>
          </a:xfrm>
          <a:prstGeom prst="line">
            <a:avLst/>
          </a:prstGeom>
          <a:noFill/>
          <a:ln w="25400">
            <a:solidFill>
              <a:srgbClr val="00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FFFF"/>
                </a:solidFill>
              </a:rPr>
              <a:t>CLASS XII  |  PHYSICS  |  CHAPTER: MOVING CHARGES &amp; MAGNETISM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</a:rPr>
              <a:t>Magnetism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Toroid  •  Torque on Current Loop  •  Terrestrial Magnetism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70715"/>
          </a:solidFill>
          <a:ln w="12700">
            <a:solidFill>
              <a:srgbClr val="0707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12700">
            <a:solidFill>
              <a:srgbClr val="2222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133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FF"/>
                </a:solidFill>
              </a:rPr>
              <a:t>Instructor: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[INSTRUCTOR NAME]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41330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FF"/>
                </a:solidFill>
              </a:rPr>
              <a:t>Batch: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JEE Main + Advanced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4133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FF"/>
                </a:solidFill>
              </a:rPr>
              <a:t>Date: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[DATE]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507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"Physics is the study of the structure of consciousness."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FF"/>
                </a:solidFill>
              </a:rPr>
              <a:t>TOROID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700"/>
                </a:solidFill>
              </a:rPr>
              <a:t>Toroid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050515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527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toroid is a solenoid bent into a closed circular (doughnut) shape. The magnetic field is confined entirely within the toroid — there is NO external magnetic field.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1828800"/>
            <a:ext cx="2560320" cy="2560320"/>
          </a:xfrm>
          <a:prstGeom prst="ellipse">
            <a:avLst/>
          </a:prstGeom>
          <a:solidFill>
            <a:srgbClr val="000000"/>
          </a:solidFill>
          <a:ln w="38100">
            <a:solidFill>
              <a:srgbClr val="00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2423160"/>
            <a:ext cx="1371600" cy="1371600"/>
          </a:xfrm>
          <a:prstGeom prst="ellipse">
            <a:avLst/>
          </a:prstGeom>
          <a:solidFill>
            <a:srgbClr val="000000"/>
          </a:solidFill>
          <a:ln w="38100">
            <a:solidFill>
              <a:srgbClr val="00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6387084" y="2962656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7200000">
            <a:off x="6255390" y="3454146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9000000">
            <a:off x="5895594" y="3813942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5404104" y="3945636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2600000">
            <a:off x="4912614" y="3813942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4400000">
            <a:off x="4552818" y="3454146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6200000">
            <a:off x="4421124" y="2962656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8000000">
            <a:off x="4552818" y="2471166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9800000">
            <a:off x="4912614" y="2111370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1600000">
            <a:off x="5404104" y="1979676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800000">
            <a:off x="5895594" y="2111370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3600000">
            <a:off x="6255390" y="2471166"/>
            <a:ext cx="164592" cy="292608"/>
          </a:xfrm>
          <a:prstGeom prst="rect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971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I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2926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B (inside)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651760"/>
            <a:ext cx="914400" cy="9144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FF88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017520" y="2743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44"/>
                </a:solidFill>
              </a:rPr>
              <a:t>B = 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4444"/>
                </a:solidFill>
              </a:rPr>
              <a:t>(outside)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04688" y="26289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FF"/>
                </a:solidFill>
              </a:rPr>
              <a:t>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011680"/>
            <a:ext cx="3108960" cy="2468880"/>
          </a:xfrm>
          <a:prstGeom prst="roundRect">
            <a:avLst>
              <a:gd name="adj" fmla="val 3704"/>
            </a:avLst>
          </a:prstGeom>
          <a:solidFill>
            <a:srgbClr val="030310"/>
          </a:solidFill>
          <a:ln w="12700">
            <a:solidFill>
              <a:srgbClr val="224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FF"/>
                </a:solidFill>
              </a:rPr>
              <a:t>Key Formulae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46888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Inside toroid: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= μ₀nI
</a:t>
            </a:r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Outside / cavity: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= 0
</a:t>
            </a:r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</a:rPr>
              <a:t>n = N / 2πr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FF"/>
                </a:solidFill>
              </a:rPr>
              <a:t>TORQUE ON A CURRENT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700"/>
                </a:solidFill>
              </a:rPr>
              <a:t>Torque on a Current Loop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2560320" cy="164592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188720"/>
            <a:ext cx="1097280" cy="0"/>
          </a:xfrm>
          <a:prstGeom prst="line">
            <a:avLst/>
          </a:prstGeom>
          <a:noFill/>
          <a:ln w="25400">
            <a:solidFill>
              <a:srgbClr val="00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188720"/>
            <a:ext cx="0" cy="0"/>
          </a:xfrm>
          <a:prstGeom prst="line">
            <a:avLst/>
          </a:prstGeom>
          <a:noFill/>
          <a:ln w="12700">
            <a:solidFill>
              <a:srgbClr val="00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515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188720"/>
            <a:ext cx="914400" cy="0"/>
          </a:xfrm>
          <a:prstGeom prst="line">
            <a:avLst/>
          </a:prstGeom>
          <a:noFill/>
          <a:ln w="25400">
            <a:solidFill>
              <a:srgbClr val="00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0515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" y="1737360"/>
            <a:ext cx="1097280" cy="0"/>
          </a:xfrm>
          <a:prstGeom prst="line">
            <a:avLst/>
          </a:prstGeom>
          <a:noFill/>
          <a:ln w="25400">
            <a:solidFill>
              <a:srgbClr val="00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1737360"/>
            <a:ext cx="0" cy="0"/>
          </a:xfrm>
          <a:prstGeom prst="line">
            <a:avLst/>
          </a:prstGeom>
          <a:noFill/>
          <a:ln w="12700">
            <a:solidFill>
              <a:srgbClr val="00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6002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1737360"/>
            <a:ext cx="914400" cy="0"/>
          </a:xfrm>
          <a:prstGeom prst="line">
            <a:avLst/>
          </a:prstGeom>
          <a:noFill/>
          <a:ln w="25400">
            <a:solidFill>
              <a:srgbClr val="00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6002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" y="2286000"/>
            <a:ext cx="1097280" cy="0"/>
          </a:xfrm>
          <a:prstGeom prst="line">
            <a:avLst/>
          </a:prstGeom>
          <a:noFill/>
          <a:ln w="25400">
            <a:solidFill>
              <a:srgbClr val="00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286000"/>
            <a:ext cx="0" cy="0"/>
          </a:xfrm>
          <a:prstGeom prst="line">
            <a:avLst/>
          </a:prstGeom>
          <a:noFill/>
          <a:ln w="12700">
            <a:solidFill>
              <a:srgbClr val="00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148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0440" y="2286000"/>
            <a:ext cx="914400" cy="0"/>
          </a:xfrm>
          <a:prstGeom prst="line">
            <a:avLst/>
          </a:prstGeom>
          <a:noFill/>
          <a:ln w="25400">
            <a:solidFill>
              <a:srgbClr val="00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148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" y="2834640"/>
            <a:ext cx="1097280" cy="0"/>
          </a:xfrm>
          <a:prstGeom prst="line">
            <a:avLst/>
          </a:prstGeom>
          <a:noFill/>
          <a:ln w="25400">
            <a:solidFill>
              <a:srgbClr val="00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2834640"/>
            <a:ext cx="0" cy="0"/>
          </a:xfrm>
          <a:prstGeom prst="line">
            <a:avLst/>
          </a:prstGeom>
          <a:noFill/>
          <a:ln w="12700">
            <a:solidFill>
              <a:srgbClr val="00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6974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0440" y="2834640"/>
            <a:ext cx="914400" cy="0"/>
          </a:xfrm>
          <a:prstGeom prst="line">
            <a:avLst/>
          </a:prstGeom>
          <a:noFill/>
          <a:ln w="25400">
            <a:solidFill>
              <a:srgbClr val="00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26974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</a:rPr>
              <a:t>B⃗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194560" y="1371600"/>
            <a:ext cx="0" cy="-457200"/>
          </a:xfrm>
          <a:prstGeom prst="line">
            <a:avLst/>
          </a:prstGeom>
          <a:noFill/>
          <a:ln w="381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731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F↑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94560" y="3017520"/>
            <a:ext cx="0" cy="457200"/>
          </a:xfrm>
          <a:prstGeom prst="line">
            <a:avLst/>
          </a:prstGeom>
          <a:noFill/>
          <a:ln w="38100">
            <a:solidFill>
              <a:srgbClr val="F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32186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</a:rPr>
              <a:t>F↓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1417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</a:rPr>
              <a:t>→ 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2697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</a:rPr>
              <a:t>← 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</a:rPr>
              <a:t>↑ 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</a:rPr>
              <a:t>↓ 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94560" y="2194560"/>
            <a:ext cx="731520" cy="274320"/>
          </a:xfrm>
          <a:prstGeom prst="line">
            <a:avLst/>
          </a:prstGeom>
          <a:noFill/>
          <a:ln w="12700">
            <a:solidFill>
              <a:srgbClr val="FF8C0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297180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8C00"/>
                </a:solidFill>
              </a:rPr>
              <a:t>θ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194560" y="1920240"/>
            <a:ext cx="640080" cy="0"/>
          </a:xfrm>
          <a:prstGeom prst="line">
            <a:avLst/>
          </a:prstGeom>
          <a:noFill/>
          <a:ln w="25400">
            <a:solidFill>
              <a:srgbClr val="CC8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80360" y="1783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88FF"/>
                </a:solidFill>
              </a:rPr>
              <a:t>τ⃗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194560" y="1234440"/>
            <a:ext cx="0" cy="19202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ysDash"/>
          </a:ln>
        </p:spPr>
      </p:sp>
      <p:sp>
        <p:nvSpPr>
          <p:cNvPr id="40" name="Text 38"/>
          <p:cNvSpPr/>
          <p:nvPr/>
        </p:nvSpPr>
        <p:spPr>
          <a:xfrm>
            <a:off x="2240280" y="1051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Axis PQ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31920" y="123444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050510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6908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FF"/>
                </a:solidFill>
              </a:rPr>
              <a:t>Derivation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069080" y="162763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Forces on AB &amp; CD: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F = BIL  (collinear with axis → no torque)
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Forces on AC &amp; BD: </a:t>
            </a:r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F = BINL  (⊥ to plane → form a couple)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931920" y="2606040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030308"/>
          </a:solidFill>
          <a:ln w="12700">
            <a:solidFill>
              <a:srgbClr val="1A2A4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69080" y="263347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Torque (scalar): 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τ = F × arm = BINL × b·sinθ = BIA sinθ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931920" y="3310128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030308"/>
          </a:solidFill>
          <a:ln w="12700">
            <a:solidFill>
              <a:srgbClr val="1A2A4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69080" y="3337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Torque (vector):  </a:t>
            </a:r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τ⃗ = M⃗ × B⃗   where  M⃗ = I·A⃗ = NIA n̂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931920" y="4014216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030308"/>
          </a:solidFill>
          <a:ln w="12700">
            <a:solidFill>
              <a:srgbClr val="1A2A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9080" y="404164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Special cases:  </a:t>
            </a:r>
            <a:pPr indent="0" marL="0">
              <a:buNone/>
            </a:pPr>
            <a:r>
              <a:rPr lang="en-US" sz="1200" dirty="0">
                <a:solidFill>
                  <a:srgbClr val="FF8C00"/>
                </a:solidFill>
              </a:rPr>
              <a:t>θ=0° → τ=min ; θ=90° → τ=max=BINA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4320" y="4617720"/>
            <a:ext cx="8595360" cy="365760"/>
          </a:xfrm>
          <a:prstGeom prst="roundRect">
            <a:avLst>
              <a:gd name="adj" fmla="val 15000"/>
            </a:avLst>
          </a:prstGeom>
          <a:solidFill>
            <a:srgbClr val="0A0020"/>
          </a:solidFill>
          <a:ln w="12700">
            <a:solidFill>
              <a:srgbClr val="3300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6360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88FF"/>
                </a:solidFill>
              </a:rPr>
              <a:t>⚡ JEE Insight: Net Force = 0 (even when τ ≠ 0). U = –M⃗·B⃗  →  W = MB(1–cosθ)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Q1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Q2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Q3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Q4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CBB"/>
                </a:solidFill>
              </a:rPr>
              <a:t>5.1  TERRESTRIAL MAGNETISM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00"/>
                </a:solidFill>
              </a:rPr>
              <a:t>Earth's Magnetism — 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704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Suggested by Dr. William Gilbert (16th century)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201168" cy="201168"/>
          </a:xfrm>
          <a:prstGeom prst="ellipse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465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FF"/>
                </a:solidFill>
              </a:rPr>
              <a:t>Earth behaves as a giant magnetic dipole inclined at ~11.5° to the axis of rotation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359152"/>
            <a:ext cx="201168" cy="201168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32257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C00"/>
                </a:solidFill>
              </a:rPr>
              <a:t>South pole of Earth's magnet points geographically NORTH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35224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986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</a:rPr>
              <a:t>Field lines: parallel to surface near equator, perpendicular near poles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511296"/>
            <a:ext cx="201168" cy="201168"/>
          </a:xfrm>
          <a:prstGeom prst="ellipse">
            <a:avLst/>
          </a:prstGeom>
          <a:solidFill>
            <a:srgbClr val="FF88CC"/>
          </a:solidFill>
          <a:ln w="12700">
            <a:solidFill>
              <a:srgbClr val="FF8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8CC"/>
                </a:solidFill>
              </a:rPr>
              <a:t>Earth's magnetic field is NOT constant — varies from place to place and with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737360"/>
            <a:ext cx="2194560" cy="2194560"/>
          </a:xfrm>
          <a:prstGeom prst="ellipse">
            <a:avLst/>
          </a:prstGeom>
          <a:solidFill>
            <a:srgbClr val="000814"/>
          </a:solidFill>
          <a:ln w="25400">
            <a:solidFill>
              <a:srgbClr val="0066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463040"/>
            <a:ext cx="0" cy="27432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ysDash"/>
          </a:ln>
        </p:spPr>
      </p:sp>
      <p:sp>
        <p:nvSpPr>
          <p:cNvPr id="17" name="Text 15"/>
          <p:cNvSpPr/>
          <p:nvPr/>
        </p:nvSpPr>
        <p:spPr>
          <a:xfrm>
            <a:off x="7086600" y="1234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Geog.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Axis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67427" y="1490575"/>
            <a:ext cx="546906" cy="2688129"/>
          </a:xfrm>
          <a:prstGeom prst="line">
            <a:avLst/>
          </a:prstGeom>
          <a:noFill/>
          <a:ln w="25400">
            <a:solidFill>
              <a:srgbClr val="F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2621" y="4132985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444"/>
                </a:solidFill>
              </a:rPr>
              <a:t>Mag.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4444"/>
                </a:solidFill>
              </a:rPr>
              <a:t>Axis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0096" y="2505456"/>
            <a:ext cx="3401568" cy="6583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448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302752" y="27249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4488"/>
                </a:solidFill>
              </a:rPr>
              <a:t>Mag. Equator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20840" y="15544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</a:rPr>
              <a:t>S (Mag)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39319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N (Mag)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86600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8C00"/>
                </a:solidFill>
              </a:rPr>
              <a:t>11.5°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CBB"/>
                </a:solidFill>
              </a:rPr>
              <a:t>5.2  ELEMENTS OF EARTH'S MAGNETISM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Magnetic Meridian &amp; Geographic Meridian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040408"/>
          </a:solidFill>
          <a:ln w="12700">
            <a:solidFill>
              <a:srgbClr val="1820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FF"/>
                </a:solidFill>
              </a:rPr>
              <a:t>(a) Magnetic Meridian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 VERTICAL PLANE passing through the axis of a freely suspended magnet. It contains the place and the magnetic axis.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084832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040408"/>
          </a:solidFill>
          <a:ln w="12700">
            <a:solidFill>
              <a:srgbClr val="182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0312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</a:rPr>
              <a:t>(b) Geographical Meridian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 VERTICAL PLANE passing through the line joining geographical north and south. It contains the place and Earth's rotation axis.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999232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040408"/>
          </a:solidFill>
          <a:ln w="12700">
            <a:solidFill>
              <a:srgbClr val="182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1752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</a:rPr>
              <a:t>(c) Magnetic Equator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 great circle perpendicular to magnetic axis. Passes through Trivandrum (India). Divides Earth into NHS (north) and SHS (south).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913632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040408"/>
          </a:solidFill>
          <a:ln w="12700">
            <a:solidFill>
              <a:srgbClr val="182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3192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8CC"/>
                </a:solidFill>
              </a:rPr>
              <a:t>(d) Magnetic Field Variation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Earth's magnetic field is NOT constant. It changes from place to place and also varies with time at a given location.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CBB"/>
                </a:solidFill>
              </a:rPr>
              <a:t>MAGNETIC ELEMENTS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The Three Elements of Earth's Magnetism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02920" cy="502920"/>
          </a:xfrm>
          <a:prstGeom prst="ellipse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2344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</a:rPr>
              <a:t>Angle of Declination (θ)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1600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Angle between Geographical Meridian and Magnetic Meridian at a place.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502920" cy="50292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246888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</a:rPr>
              <a:t>Angle of Dip / Inclination (φ)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8346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Angle between direction of resultant Earth's magnetic field B₁ and the horizontal in magnetic meridian.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703320"/>
            <a:ext cx="502920" cy="50292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6112" y="370332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Horizontal Component (B_H)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Component of Earth's magnetic field along horizontal in magnetic meridian. Measured by vibration/deflection magnetometer.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88FF"/>
                </a:solidFill>
              </a:rPr>
              <a:t>★  Complete specification of Earth's magnetic field at a given place requires ALL THREE elements.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CBB"/>
                </a:solidFill>
              </a:rPr>
              <a:t>ANGLE OF DECLINATION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Angle of Declination (θ)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731520"/>
          </a:xfrm>
          <a:prstGeom prst="roundRect">
            <a:avLst>
              <a:gd name="adj" fmla="val 8750"/>
            </a:avLst>
          </a:prstGeom>
          <a:solidFill>
            <a:srgbClr val="050510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At a given place, it is the angle between the GEOGRAPHICAL MERIDIAN and the MAGNETIC MERIDIAN, i.e., the angle between the true north-south direction and the direction shown by a compass needle.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2011680"/>
            <a:ext cx="1828800" cy="1828800"/>
          </a:xfrm>
          <a:prstGeom prst="ellipse">
            <a:avLst/>
          </a:prstGeom>
          <a:solidFill>
            <a:srgbClr val="030308"/>
          </a:solidFill>
          <a:ln w="12700">
            <a:solidFill>
              <a:srgbClr val="224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2011680"/>
            <a:ext cx="0" cy="-36576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508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(Geog)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2926080"/>
            <a:ext cx="206419" cy="-1170661"/>
          </a:xfrm>
          <a:prstGeom prst="line">
            <a:avLst/>
          </a:prstGeom>
          <a:noFill/>
          <a:ln w="25400">
            <a:solidFill>
              <a:srgbClr val="00FFF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681139" y="1343939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FF"/>
                </a:solidFill>
              </a:rPr>
              <a:t>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FFFF"/>
                </a:solidFill>
              </a:rPr>
              <a:t>(Mag)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47872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8C00"/>
                </a:solidFill>
              </a:rPr>
              <a:t>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2926080"/>
            <a:ext cx="0" cy="8229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3383280" y="37673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2926080"/>
            <a:ext cx="1645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ysDash"/>
          </a:ln>
        </p:spPr>
      </p:sp>
      <p:sp>
        <p:nvSpPr>
          <p:cNvPr id="16" name="Text 14"/>
          <p:cNvSpPr/>
          <p:nvPr/>
        </p:nvSpPr>
        <p:spPr>
          <a:xfrm>
            <a:off x="4343400" y="28163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95728" y="28163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9584" y="1965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99427" y="1801139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FF"/>
                </a:solidFill>
              </a:rPr>
              <a:t>MM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920240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03030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94767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Expressed as 0°E or 0°W depending on east/west of geographic north-south line.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03030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95351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London: declination = 10°W (compass points 10° west of geographic north)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03030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9593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Declination = 0 means GM and MM coincide — true north = magnetic north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CBB"/>
                </a:solidFill>
              </a:rPr>
              <a:t>ANGLE OF DIP / INCLINATION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D700"/>
                </a:solidFill>
              </a:rPr>
              <a:t>Angle of Dip (φ)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640080"/>
          </a:xfrm>
          <a:prstGeom prst="roundRect">
            <a:avLst>
              <a:gd name="adj" fmla="val 10000"/>
            </a:avLst>
          </a:prstGeom>
          <a:solidFill>
            <a:srgbClr val="050510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Angle which the direction of resultant intensity of Earth's magnetic field subtends with horizontal line in the magnetic meridian at the given place.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3200400"/>
            <a:ext cx="32918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Horizontal 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1737360"/>
            <a:ext cx="0" cy="1463040"/>
          </a:xfrm>
          <a:prstGeom prst="line">
            <a:avLst/>
          </a:prstGeom>
          <a:noFill/>
          <a:ln w="12700">
            <a:solidFill>
              <a:srgbClr val="334433"/>
            </a:solidFill>
            <a:prstDash val="sysDash"/>
          </a:ln>
        </p:spPr>
      </p:sp>
      <p:sp>
        <p:nvSpPr>
          <p:cNvPr id="10" name="Text 8"/>
          <p:cNvSpPr/>
          <p:nvPr/>
        </p:nvSpPr>
        <p:spPr>
          <a:xfrm>
            <a:off x="3712464" y="1691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8C00"/>
                </a:solidFill>
              </a:rPr>
              <a:t>B_V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3200400"/>
            <a:ext cx="1463040" cy="0"/>
          </a:xfrm>
          <a:prstGeom prst="line">
            <a:avLst/>
          </a:prstGeom>
          <a:noFill/>
          <a:ln w="38100">
            <a:solidFill>
              <a:srgbClr val="00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30449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B_H 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3200400"/>
            <a:ext cx="1223157" cy="-1101335"/>
          </a:xfrm>
          <a:prstGeom prst="line">
            <a:avLst/>
          </a:prstGeom>
          <a:noFill/>
          <a:ln w="38100">
            <a:solidFill>
              <a:srgbClr val="F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5621" y="1961905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444"/>
                </a:solidFill>
              </a:rPr>
              <a:t>B_I (resultant)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2651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8C00"/>
                </a:solidFill>
              </a:rPr>
              <a:t>φ = 42°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8C00"/>
                </a:solidFill>
              </a:rPr>
              <a:t>(Delhi)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18105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At equator: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φ = 0°  (B_I is horizontal)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</a:rPr>
              <a:t>At poles: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φ = 90°  (B_I is vertical)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9443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</a:rPr>
              <a:t>At Delhi: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φ = 42°  (typical value)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5112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</a:rPr>
              <a:t>N. hemisphere: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North pole of free magnet dips DOWN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0782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8CC"/>
                </a:solidFill>
              </a:rPr>
              <a:t>S. hemisphere: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North pole of free magnet dips UP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CBB"/>
                </a:solidFill>
              </a:rPr>
              <a:t>COMPONENTS OF EARTH'S MAGNETIC FIELD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00"/>
                </a:solidFill>
              </a:rPr>
              <a:t>Horizontal &amp; Vertical Components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834640" y="1097280"/>
            <a:ext cx="2286000" cy="2286000"/>
          </a:xfrm>
          <a:prstGeom prst="rect">
            <a:avLst/>
          </a:prstGeom>
          <a:solidFill>
            <a:srgbClr val="000000"/>
          </a:solidFill>
          <a:ln w="12700">
            <a:solidFill>
              <a:srgbClr val="224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</a:rPr>
              <a:t>Magnetic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</a:rPr>
              <a:t>meridian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0" y="2468880"/>
            <a:ext cx="1645920" cy="0"/>
          </a:xfrm>
          <a:prstGeom prst="line">
            <a:avLst/>
          </a:prstGeom>
          <a:noFill/>
          <a:ln w="38100">
            <a:solidFill>
              <a:srgbClr val="00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FF"/>
                </a:solidFill>
              </a:rPr>
              <a:t>→ B_H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2468880"/>
            <a:ext cx="0" cy="1188720"/>
          </a:xfrm>
          <a:prstGeom prst="line">
            <a:avLst/>
          </a:prstGeom>
          <a:noFill/>
          <a:ln w="38100">
            <a:solidFill>
              <a:srgbClr val="FF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3703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</a:rPr>
              <a:t>B_V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00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2468880"/>
            <a:ext cx="1359063" cy="1223706"/>
          </a:xfrm>
          <a:prstGeom prst="line">
            <a:avLst/>
          </a:prstGeom>
          <a:noFill/>
          <a:ln w="38100">
            <a:solidFill>
              <a:srgbClr val="F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0863" y="369258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</a:rPr>
              <a:t>B_I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700"/>
                </a:solidFill>
              </a:rPr>
              <a:t>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040408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075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FF"/>
                </a:solidFill>
              </a:rPr>
              <a:t>B_H = B_I cos 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92040" y="17190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Horizontal component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040408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221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</a:rPr>
              <a:t>B_V = B_I sin 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92040" y="26334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Vertical component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040408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1363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tan φ = B_V / B_H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3547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Angle of dip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40233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040408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0507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444"/>
                </a:solidFill>
              </a:rPr>
              <a:t>B_I = √(B_H² + B_V²)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92040" y="44622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Resultant field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0A0020"/>
          </a:solidFill>
          <a:ln w="12700">
            <a:solidFill>
              <a:srgbClr val="3300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88FF"/>
                </a:solidFill>
              </a:rPr>
              <a:t>At Delhi: B_H = 35 μT = 0.35 G   |   Dip φ = 42°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JEE FORMULA 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</a:rPr>
              <a:t>Terrestrial Magnetism — Formula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560320" cy="384048"/>
          </a:xfrm>
          <a:prstGeom prst="rect">
            <a:avLst/>
          </a:prstGeom>
          <a:solidFill>
            <a:srgbClr val="0055B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Expression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188720"/>
            <a:ext cx="2560320" cy="384048"/>
          </a:xfrm>
          <a:prstGeom prst="rect">
            <a:avLst/>
          </a:prstGeom>
          <a:solidFill>
            <a:srgbClr val="0055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188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Formula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188720"/>
            <a:ext cx="3200400" cy="384048"/>
          </a:xfrm>
          <a:prstGeom prst="rect">
            <a:avLst/>
          </a:prstGeom>
          <a:solidFill>
            <a:srgbClr val="5533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1887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Note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256032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727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Horizontal Component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34640" y="1572768"/>
            <a:ext cx="256032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5727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</a:rPr>
              <a:t>B_H = B_I cos φ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94960" y="1572768"/>
            <a:ext cx="320040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5727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</a:rPr>
              <a:t>Along horizontal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1956816"/>
            <a:ext cx="256032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568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Vertical Component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34640" y="1956816"/>
            <a:ext cx="256032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19568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</a:rPr>
              <a:t>B_V = B_I sin 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94960" y="1956816"/>
            <a:ext cx="320040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9568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</a:rPr>
              <a:t>Along vertical ↓(N.hemi)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2340864"/>
            <a:ext cx="256032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34086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Angle of Dip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834640" y="2340864"/>
            <a:ext cx="256032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234086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</a:rPr>
              <a:t>tan φ = B_V / B_H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94960" y="2340864"/>
            <a:ext cx="320040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23408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</a:rPr>
              <a:t>φ=0 at equator, 90° at poles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2724912"/>
            <a:ext cx="256032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7249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Resultant Field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834640" y="2724912"/>
            <a:ext cx="256032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27249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</a:rPr>
              <a:t>B_I = √(B_H² + B_V²)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394960" y="2724912"/>
            <a:ext cx="320040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27249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</a:rPr>
              <a:t>Always ≥ B_H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3108960"/>
            <a:ext cx="256032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108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Toroid Field (inside)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834640" y="3108960"/>
            <a:ext cx="256032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80360" y="3108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</a:rPr>
              <a:t>B = μ₀nI = μ₀NI/2πr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394960" y="3108960"/>
            <a:ext cx="320040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</a:rPr>
              <a:t>Zero outside / in cavity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74320" y="3493008"/>
            <a:ext cx="256032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4930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Torque on Loop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834640" y="3493008"/>
            <a:ext cx="256032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80360" y="34930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</a:rPr>
              <a:t>τ = BINA sinθ = MB sinθ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394960" y="3493008"/>
            <a:ext cx="320040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40680" y="34930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</a:rPr>
              <a:t>Max at θ=90°, min at θ=0°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74320" y="3877056"/>
            <a:ext cx="256032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8770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Vector Torque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834640" y="3877056"/>
            <a:ext cx="256032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80360" y="38770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</a:rPr>
              <a:t>τ⃗ = M⃗ × B⃗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394960" y="3877056"/>
            <a:ext cx="320040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387705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</a:rPr>
              <a:t>M⃗ = NIA n̂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274320" y="4261104"/>
            <a:ext cx="256032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2611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Potential Energy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834640" y="4261104"/>
            <a:ext cx="256032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80360" y="42611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</a:rPr>
              <a:t>U = −M⃗·B⃗ = −MB cosθ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394960" y="4261104"/>
            <a:ext cx="3200400" cy="384048"/>
          </a:xfrm>
          <a:prstGeom prst="rect">
            <a:avLst/>
          </a:prstGeom>
          <a:solidFill>
            <a:srgbClr val="040408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40680" y="426110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</a:rPr>
              <a:t>Stable eq: θ=0°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274320" y="4645152"/>
            <a:ext cx="256032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645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Work Done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2834640" y="4645152"/>
            <a:ext cx="256032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80360" y="4645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</a:rPr>
              <a:t>W = MB(1 − cosθ)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394960" y="4645152"/>
            <a:ext cx="3200400" cy="384048"/>
          </a:xfrm>
          <a:prstGeom prst="rect">
            <a:avLst/>
          </a:prstGeom>
          <a:solidFill>
            <a:srgbClr val="020206"/>
          </a:solidFill>
          <a:ln w="6350">
            <a:solidFill>
              <a:srgbClr val="11112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40680" y="46451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</a:rPr>
              <a:t>Rotating loop in field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JEE CONCEPT CHECKPOINTS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</a:rPr>
              <a:t>JEE Main &amp; Advanced — Concept Checkpoints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667512"/>
          </a:xfrm>
          <a:prstGeom prst="roundRect">
            <a:avLst>
              <a:gd name="adj" fmla="val 9589"/>
            </a:avLst>
          </a:prstGeom>
          <a:solidFill>
            <a:srgbClr val="030308"/>
          </a:solidFill>
          <a:ln w="12700">
            <a:solidFill>
              <a:srgbClr val="181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07008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0700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is there NO magnetic field inside the cavity (hole) of a toroid?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996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</a:rPr>
              <a:t>Hint: Apply Ampere's law — net current enclosed = 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8595360" cy="667512"/>
          </a:xfrm>
          <a:prstGeom prst="roundRect">
            <a:avLst>
              <a:gd name="adj" fmla="val 9589"/>
            </a:avLst>
          </a:prstGeom>
          <a:solidFill>
            <a:srgbClr val="030308"/>
          </a:solidFill>
          <a:ln w="12700">
            <a:solidFill>
              <a:srgbClr val="1818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1956816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95681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 current loop in a uniform B field has τ = 0. What are the TWO possible orientations?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24942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</a:rPr>
              <a:t>Hint: θ = 0° (stable) and θ = 180° (unstable)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688336"/>
            <a:ext cx="8595360" cy="667512"/>
          </a:xfrm>
          <a:prstGeom prst="roundRect">
            <a:avLst>
              <a:gd name="adj" fmla="val 9589"/>
            </a:avLst>
          </a:prstGeom>
          <a:solidFill>
            <a:srgbClr val="030308"/>
          </a:solidFill>
          <a:ln w="12700">
            <a:solidFill>
              <a:srgbClr val="1818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2706624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7066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Q3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70662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 what location on Earth is the angle of dip exactly 90°? What is B_H there?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99923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</a:rPr>
              <a:t>Hint: Magnetic poles — B_H = 0, B_I = B_V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438144"/>
            <a:ext cx="8595360" cy="667512"/>
          </a:xfrm>
          <a:prstGeom prst="roundRect">
            <a:avLst>
              <a:gd name="adj" fmla="val 9589"/>
            </a:avLst>
          </a:prstGeom>
          <a:solidFill>
            <a:srgbClr val="030308"/>
          </a:solidFill>
          <a:ln w="12700">
            <a:solidFill>
              <a:srgbClr val="1818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3456432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FF88CC"/>
          </a:solidFill>
          <a:ln w="12700">
            <a:solidFill>
              <a:srgbClr val="FF8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456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Q4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45643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If angle of dip at a place is 30° and B_H = 0.3 G, find B_I and B_V.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7490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</a:rPr>
              <a:t>B_I = B_H/cos30° = 0.346 G ;  B_V = B_I sin30° = 0.173 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187952"/>
            <a:ext cx="8595360" cy="667512"/>
          </a:xfrm>
          <a:prstGeom prst="roundRect">
            <a:avLst>
              <a:gd name="adj" fmla="val 9589"/>
            </a:avLst>
          </a:prstGeom>
          <a:solidFill>
            <a:srgbClr val="030308"/>
          </a:solidFill>
          <a:ln w="12700">
            <a:solidFill>
              <a:srgbClr val="1818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4206240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CC88FF"/>
          </a:solidFill>
          <a:ln w="12700">
            <a:solidFill>
              <a:srgbClr val="CC8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Q5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2062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 magnetic compass shows 5°E declination. Does it point east or west of true north?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49884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</a:rPr>
              <a:t>Hint: 5°E means compass (magnetic north) is 5° east of geographic north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Magnetism - Toroid, Torque on Current Loop &amp; Terrestrial Magnetism</dc:title>
  <dc:subject>PptxGenJS Presentation</dc:subject>
  <dc:creator>JEE Physics Lecturer</dc:creator>
  <cp:lastModifiedBy>JEE Physics Lecturer</cp:lastModifiedBy>
  <cp:revision>1</cp:revision>
  <dcterms:created xsi:type="dcterms:W3CDTF">2026-06-11T11:58:21Z</dcterms:created>
  <dcterms:modified xsi:type="dcterms:W3CDTF">2026-06-11T11:58:21Z</dcterms:modified>
</cp:coreProperties>
</file>